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notesSlides/notesSlide1.xml" Type="http://schemas.openxmlformats.org/officeDocument/2006/relationships/notesSlide"/><Relationship Id="rId12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本页展示智能阅读系统的三层功能模块组织结构：第一层为系统整体，第二层分为Android客户端和服务端两个子系统，第三层为各子系统的核心功能模块。模块间采用无箭头肘型连接符连接。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本页展示智能阅读系统的核心业务流程：从启动App到用户登录、书架管理、选择书籍、加载章节、阅读引擎渲染、翻页设置，最终记录阅读进度的完整闭环。下方补充说明服务端交互流程。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826000" y="317500"/>
            <a:ext cx="254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智能阅读系统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1651000"/>
            <a:ext cx="254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Android客户端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382000" y="1651000"/>
            <a:ext cx="254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服务端子系统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" y="2984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用户认证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374900" y="2984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书架管理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05300" y="2984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搜索发现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" y="4000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阅读引擎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374900" y="4000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阅读设置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05300" y="4000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个人中心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984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用户管理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80400" y="2984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书籍管理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210800" y="2984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章节管理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000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书源解析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80400" y="4000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数据访问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10800" y="4000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配置管理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10800000" flipH="false" flipV="true">
            <a:off x="2540000" y="952500"/>
            <a:ext cx="35560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6096000" y="952500"/>
            <a:ext cx="35560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10800000" flipH="false" flipV="true">
            <a:off x="1231900" y="2286000"/>
            <a:ext cx="13081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0" flipH="false" flipV="false">
            <a:off x="2540000" y="2286000"/>
            <a:ext cx="6223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1" id="21"/>
          <p:cNvCxnSpPr/>
          <p:nvPr/>
        </p:nvCxnSpPr>
        <p:spPr>
          <a:xfrm rot="0" flipH="false" flipV="false">
            <a:off x="2540000" y="2286000"/>
            <a:ext cx="25527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2" id="22"/>
          <p:cNvCxnSpPr/>
          <p:nvPr/>
        </p:nvCxnSpPr>
        <p:spPr>
          <a:xfrm rot="10800000" flipH="false" flipV="true">
            <a:off x="1231900" y="2286000"/>
            <a:ext cx="1308100" cy="1714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3" id="23"/>
          <p:cNvCxnSpPr/>
          <p:nvPr/>
        </p:nvCxnSpPr>
        <p:spPr>
          <a:xfrm rot="0" flipH="false" flipV="false">
            <a:off x="2540000" y="2286000"/>
            <a:ext cx="622300" cy="1714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4" id="24"/>
          <p:cNvCxnSpPr/>
          <p:nvPr/>
        </p:nvCxnSpPr>
        <p:spPr>
          <a:xfrm rot="0" flipH="false" flipV="false">
            <a:off x="2540000" y="2286000"/>
            <a:ext cx="2552700" cy="1714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5" id="25"/>
          <p:cNvCxnSpPr/>
          <p:nvPr/>
        </p:nvCxnSpPr>
        <p:spPr>
          <a:xfrm rot="10800000" flipH="false" flipV="true">
            <a:off x="7137400" y="2286000"/>
            <a:ext cx="25146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6" id="26"/>
          <p:cNvCxnSpPr/>
          <p:nvPr/>
        </p:nvCxnSpPr>
        <p:spPr>
          <a:xfrm rot="0" flipH="false" flipV="false">
            <a:off x="9067800" y="2286000"/>
            <a:ext cx="6096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7" id="27"/>
          <p:cNvCxnSpPr/>
          <p:nvPr/>
        </p:nvCxnSpPr>
        <p:spPr>
          <a:xfrm rot="0" flipH="false" flipV="false">
            <a:off x="9652000" y="2286000"/>
            <a:ext cx="2108200" cy="698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8" id="28"/>
          <p:cNvCxnSpPr/>
          <p:nvPr/>
        </p:nvCxnSpPr>
        <p:spPr>
          <a:xfrm rot="10800000" flipH="false" flipV="true">
            <a:off x="7137400" y="2286000"/>
            <a:ext cx="2514600" cy="1714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9" id="29"/>
          <p:cNvCxnSpPr/>
          <p:nvPr/>
        </p:nvCxnSpPr>
        <p:spPr>
          <a:xfrm rot="0" flipH="false" flipV="false">
            <a:off x="9067800" y="2286000"/>
            <a:ext cx="609600" cy="1714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30" id="30"/>
          <p:cNvCxnSpPr/>
          <p:nvPr/>
        </p:nvCxnSpPr>
        <p:spPr>
          <a:xfrm rot="0" flipH="false" flipV="false">
            <a:off x="9652000" y="2286000"/>
            <a:ext cx="2108200" cy="1714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54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智能阅读系统业务流程图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3335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E6F0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启动App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365500" y="13335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E6F0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用户登录认证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0" y="13335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E6F0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书架浏览管理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26500" y="13335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E6F0FF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选择目标书籍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26500" y="35560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FFF5E6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加载章节内容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35560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FFF5E6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阅读引擎渲染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365500" y="35560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FFF5E6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翻页阅读设置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556000"/>
            <a:ext cx="2032000" cy="698500"/>
          </a:xfrm>
          <a:prstGeom prst="roundRect">
            <a:avLst>
              <a:gd name="adj" fmla="val 18181"/>
            </a:avLst>
          </a:prstGeom>
          <a:solidFill>
            <a:srgbClr val="E6FFE6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记录阅读进度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5207000"/>
            <a:ext cx="10922000" cy="1143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mpd="sng" cap="flat">
            <a:solidFill>
              <a:srgbClr val="969696">
                <a:alpha val="100000"/>
              </a:srgbClr>
            </a:solidFill>
            <a:prstDash val="dash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Songti SC"/>
                <a:ea typeface="Songti SC"/>
                <a:cs typeface="Songti SC"/>
                <a:sym typeface="Songti SC"/>
              </a:rPr>
              <a:t>服务端交互流程：Android客户端通过Retrofit发起HTTP请求 → 服务端Controller接收请求 → Service层业务逻辑处理 → Repository数据访问层操作数据库 → 结果经DTO封装返回客户端。书源解析模块支持多源小说内容聚合，通过Legado解析引擎实现章节内容抓取与转换。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2667000" y="1524000"/>
            <a:ext cx="698500" cy="317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3" id="13"/>
          <p:cNvCxnSpPr/>
          <p:nvPr/>
        </p:nvCxnSpPr>
        <p:spPr>
          <a:xfrm rot="0" flipH="false" flipV="false">
            <a:off x="5397500" y="1524000"/>
            <a:ext cx="698500" cy="317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8128000" y="1524000"/>
            <a:ext cx="698500" cy="317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5" id="15"/>
          <p:cNvCxnSpPr/>
          <p:nvPr/>
        </p:nvCxnSpPr>
        <p:spPr>
          <a:xfrm rot="0" flipH="false" flipV="false">
            <a:off x="9715500" y="2032000"/>
            <a:ext cx="317500" cy="15240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6" id="16"/>
          <p:cNvCxnSpPr/>
          <p:nvPr/>
        </p:nvCxnSpPr>
        <p:spPr>
          <a:xfrm rot="10800000" flipH="false" flipV="true">
            <a:off x="8128000" y="3746500"/>
            <a:ext cx="698500" cy="317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7" id="17"/>
          <p:cNvCxnSpPr/>
          <p:nvPr/>
        </p:nvCxnSpPr>
        <p:spPr>
          <a:xfrm rot="10800000" flipH="false" flipV="true">
            <a:off x="5397500" y="3746500"/>
            <a:ext cx="698500" cy="317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8" id="18"/>
          <p:cNvCxnSpPr/>
          <p:nvPr/>
        </p:nvCxnSpPr>
        <p:spPr>
          <a:xfrm rot="10800000" flipH="false" flipV="true">
            <a:off x="2667000" y="3746500"/>
            <a:ext cx="698500" cy="317500"/>
          </a:xfrm>
          <a:prstGeom prst="bentConnector3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